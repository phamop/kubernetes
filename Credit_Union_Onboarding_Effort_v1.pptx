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615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40" y="10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UAT %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A38"/>
                    </a:solidFill>
                    <a:latin typeface="Trebuchet M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SSO (U8)</c:v>
                </c:pt>
                <c:pt idx="1">
                  <c:v>Salesforce</c:v>
                </c:pt>
                <c:pt idx="2">
                  <c:v>Glia / AWS</c:v>
                </c:pt>
                <c:pt idx="3">
                  <c:v>Okta</c:v>
                </c:pt>
                <c:pt idx="4">
                  <c:v>Monitoring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80</c:v>
                </c:pt>
                <c:pt idx="1">
                  <c:v>100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79-CF44-8967-8256DB6B72C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Prod %</c:v>
                </c:pt>
              </c:strCache>
            </c:strRef>
          </c:tx>
          <c:spPr>
            <a:solidFill>
              <a:srgbClr val="12233F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A38"/>
                    </a:solidFill>
                    <a:latin typeface="Trebuchet M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SSO (U8)</c:v>
                </c:pt>
                <c:pt idx="1">
                  <c:v>Salesforce</c:v>
                </c:pt>
                <c:pt idx="2">
                  <c:v>Glia / AWS</c:v>
                </c:pt>
                <c:pt idx="3">
                  <c:v>Okta</c:v>
                </c:pt>
                <c:pt idx="4">
                  <c:v>Monitoring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379-CF44-8967-8256DB6B72C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-2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E2A38"/>
                </a:solidFill>
                <a:latin typeface="Trebuchet M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8ECEF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B7A"/>
                </a:solidFill>
                <a:latin typeface="Trebuchet MS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F6B7A"/>
              </a:solidFill>
              <a:latin typeface="Trebuchet MS"/>
              <a:cs typeface="Trebuchet MS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1038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emf"/><Relationship Id="rId4" Type="http://schemas.openxmlformats.org/officeDocument/2006/relationships/package" Target="../embeddings/Microsoft_Excel_Worksheet1.xlsx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554480"/>
            <a:ext cx="4754880" cy="4754880"/>
          </a:xfrm>
          <a:prstGeom prst="ellipse">
            <a:avLst/>
          </a:prstGeom>
          <a:ln w="15875">
            <a:solidFill>
              <a:srgbClr val="0E7C86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2743200"/>
            <a:ext cx="5486400" cy="5486400"/>
          </a:xfrm>
          <a:prstGeom prst="ellipse">
            <a:avLst/>
          </a:prstGeom>
          <a:ln w="12700">
            <a:solidFill>
              <a:srgbClr val="5BB0B5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691640"/>
            <a:ext cx="146304" cy="13716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691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5BB0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BRIEFING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61288" y="2103120"/>
            <a:ext cx="9601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Credit Union</a:t>
            </a:r>
            <a:endParaRPr lang="en-US" sz="42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 Effort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188720" y="397764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4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Onboarding build progress and the team effort required per credit union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4983480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PREPARED FOR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88720" y="521208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Leadership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67328" y="4983480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TOPIC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767328" y="521208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Credit union onboarding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45936" y="4983480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345936" y="521208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Working draft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924544" y="4983480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924544" y="521208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May 2026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88720" y="4892040"/>
            <a:ext cx="9601200" cy="0"/>
          </a:xfrm>
          <a:prstGeom prst="line">
            <a:avLst/>
          </a:prstGeom>
          <a:noFill/>
          <a:ln w="12700">
            <a:solidFill>
              <a:srgbClr val="0E7C86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5989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FA0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Structured transcription of a whiteboard working session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57607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SUMMARY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216152" y="64008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dimensions: build progress and per-CU effort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02920" y="129844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F6B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briefing covers the effort to onboard a credit union (CU): how far the onboarding build has progressed across systems, and the recurring team effort each new CU requires.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02920" y="1993392"/>
            <a:ext cx="544068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E8ECEF"/>
            </a:solidFill>
            <a:prstDash val="solid"/>
          </a:ln>
          <a:effectLst>
            <a:outerShdw blurRad="88900" dist="38100" dir="8100000" algn="bl" rotWithShape="0">
              <a:srgbClr val="12233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02920" y="1993392"/>
            <a:ext cx="91440" cy="13716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9" name="Shape 6"/>
          <p:cNvSpPr/>
          <p:nvPr/>
        </p:nvSpPr>
        <p:spPr>
          <a:xfrm>
            <a:off x="795528" y="2249424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2340864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23113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progress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417320" y="2578608"/>
            <a:ext cx="4370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6B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much of the onboarding work is complete in each environment. UAT is well advanced; Production has barely started.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245352" y="1993392"/>
            <a:ext cx="544068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E8ECEF"/>
            </a:solidFill>
            <a:prstDash val="solid"/>
          </a:ln>
          <a:effectLst>
            <a:outerShdw blurRad="88900" dist="38100" dir="8100000" algn="bl" rotWithShape="0">
              <a:srgbClr val="12233F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45352" y="1993392"/>
            <a:ext cx="91440" cy="13716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5" name="Shape 11"/>
          <p:cNvSpPr/>
          <p:nvPr/>
        </p:nvSpPr>
        <p:spPr>
          <a:xfrm>
            <a:off x="6537960" y="2249424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2340864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59752" y="223113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Per-CU effort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7159752" y="2578608"/>
            <a:ext cx="4370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6B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recurring team time every new credit union requires across Salesforce Admin, DevOps and Platform Engineering.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02920" y="3611880"/>
            <a:ext cx="11183112" cy="1078992"/>
          </a:xfrm>
          <a:prstGeom prst="rect">
            <a:avLst/>
          </a:prstGeom>
          <a:solidFill>
            <a:srgbClr val="12233F"/>
          </a:solidFill>
          <a:ln/>
        </p:spPr>
      </p:sp>
      <p:sp>
        <p:nvSpPr>
          <p:cNvPr id="20" name="Shape 15"/>
          <p:cNvSpPr/>
          <p:nvPr/>
        </p:nvSpPr>
        <p:spPr>
          <a:xfrm>
            <a:off x="502920" y="3611880"/>
            <a:ext cx="109728" cy="107899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1" name="Text 16"/>
          <p:cNvSpPr/>
          <p:nvPr/>
        </p:nvSpPr>
        <p:spPr>
          <a:xfrm>
            <a:off x="868680" y="37764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50" dirty="0">
                <a:solidFill>
                  <a:srgbClr val="5BB0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HEADLINE FINDING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868680" y="39959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onboarding build is well advanced in UAT but has barely started in Production. </a:t>
            </a:r>
            <a:r>
              <a:rPr lang="en-US" sz="1150" dirty="0">
                <a:solidFill>
                  <a:srgbClr val="C9D4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Salesforce is 100% complete and SSO 80% complete in UAT — yet Production completion is at or near zero. Production readiness is the critical path to onboarding CUs live.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502920" y="4937760"/>
            <a:ext cx="35204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88900" dist="38100" dir="8100000" algn="bl" rotWithShape="0">
              <a:srgbClr val="12233F">
                <a:alpha val="16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548640" y="502920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F8A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800" dirty="0"/>
          </a:p>
        </p:txBody>
      </p:sp>
      <p:sp>
        <p:nvSpPr>
          <p:cNvPr id="25" name="Text 20"/>
          <p:cNvSpPr/>
          <p:nvPr/>
        </p:nvSpPr>
        <p:spPr>
          <a:xfrm>
            <a:off x="594360" y="56692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F6B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UAT build complete — Salesforce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4334256" y="4937760"/>
            <a:ext cx="35204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88900" dist="38100" dir="8100000" algn="bl" rotWithShape="0">
              <a:srgbClr val="12233F">
                <a:alpha val="16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4379976" y="502920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3800" dirty="0"/>
          </a:p>
        </p:txBody>
      </p:sp>
      <p:sp>
        <p:nvSpPr>
          <p:cNvPr id="28" name="Text 23"/>
          <p:cNvSpPr/>
          <p:nvPr/>
        </p:nvSpPr>
        <p:spPr>
          <a:xfrm>
            <a:off x="4425696" y="56692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F6B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complete — SSO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8165592" y="4937760"/>
            <a:ext cx="35204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blurRad="88900" dist="38100" dir="8100000" algn="bl" rotWithShape="0">
              <a:srgbClr val="12233F">
                <a:alpha val="16000"/>
              </a:srgbClr>
            </a:outerShdw>
          </a:effectLst>
        </p:spPr>
      </p:sp>
      <p:sp>
        <p:nvSpPr>
          <p:cNvPr id="30" name="Text 25"/>
          <p:cNvSpPr/>
          <p:nvPr/>
        </p:nvSpPr>
        <p:spPr>
          <a:xfrm>
            <a:off x="8211312" y="502920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~30m</a:t>
            </a:r>
            <a:endParaRPr lang="en-US" sz="3800" dirty="0"/>
          </a:p>
        </p:txBody>
      </p:sp>
      <p:sp>
        <p:nvSpPr>
          <p:cNvPr id="31" name="Text 26"/>
          <p:cNvSpPr/>
          <p:nvPr/>
        </p:nvSpPr>
        <p:spPr>
          <a:xfrm>
            <a:off x="8257032" y="56692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F6B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DevOps effort per credit union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50292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B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Credit Union Onboarding — Effort Review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8229600" y="64373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F6B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Confidential — Internal Use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11475720" y="6437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57607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ONBOARDING PROGRESS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216152" y="64008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progress by system — UAT vs. Production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02920" y="12801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Each system shows the share of onboarding work completed in UAT and in Production. Edit the chart data as progress is made — every bar updates from a single source.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7556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COMPLETION BY SYSTEM  (%)</a:t>
            </a:r>
            <a:endParaRPr lang="en-US" sz="9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11480" y="2011680"/>
          <a:ext cx="781812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57790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F6B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Systems not yet measured are shown at 0% — update each value in the chart data as work completes.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8503920" y="2011680"/>
            <a:ext cx="3182112" cy="3703320"/>
          </a:xfrm>
          <a:prstGeom prst="rect">
            <a:avLst/>
          </a:prstGeom>
          <a:solidFill>
            <a:srgbClr val="F4F6F8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503920" y="2011680"/>
            <a:ext cx="3182112" cy="502920"/>
          </a:xfrm>
          <a:prstGeom prst="rect">
            <a:avLst/>
          </a:prstGeom>
          <a:solidFill>
            <a:srgbClr val="12233F"/>
          </a:solidFill>
          <a:ln/>
        </p:spPr>
      </p:sp>
      <p:sp>
        <p:nvSpPr>
          <p:cNvPr id="12" name="Text 8"/>
          <p:cNvSpPr/>
          <p:nvPr/>
        </p:nvSpPr>
        <p:spPr>
          <a:xfrm>
            <a:off x="8732520" y="20116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OWNER &amp; EFFORT / CU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8732520" y="26700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SSO (U8)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8732520" y="29077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DevOps  ·  ~10 min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8732520" y="3200400"/>
            <a:ext cx="2743200" cy="0"/>
          </a:xfrm>
          <a:prstGeom prst="line">
            <a:avLst/>
          </a:prstGeom>
          <a:noFill/>
          <a:ln w="9525">
            <a:solidFill>
              <a:srgbClr val="E8ECE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732520" y="32735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Salesforce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8732520" y="35112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SF Admin  ·  ~5 min / bulk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8732520" y="3803904"/>
            <a:ext cx="2743200" cy="0"/>
          </a:xfrm>
          <a:prstGeom prst="line">
            <a:avLst/>
          </a:prstGeom>
          <a:noFill/>
          <a:ln w="9525">
            <a:solidFill>
              <a:srgbClr val="E8ECE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732520" y="38770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Glia / AWS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8732520" y="41148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DevOps  ·  ~10 min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8732520" y="4407408"/>
            <a:ext cx="2743200" cy="0"/>
          </a:xfrm>
          <a:prstGeom prst="line">
            <a:avLst/>
          </a:prstGeom>
          <a:noFill/>
          <a:ln w="9525">
            <a:solidFill>
              <a:srgbClr val="E8ECE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732520" y="4480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Okta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8732520" y="471830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Totara  ·  ~3 min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8732520" y="5010912"/>
            <a:ext cx="2743200" cy="0"/>
          </a:xfrm>
          <a:prstGeom prst="line">
            <a:avLst/>
          </a:prstGeom>
          <a:noFill/>
          <a:ln w="9525">
            <a:solidFill>
              <a:srgbClr val="E8ECE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732520" y="50840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8732520" y="53218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DevOps + Rel.  ·  Ticket ~10 min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8732520" y="57424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12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charted:  </a:t>
            </a:r>
            <a:r>
              <a:rPr lang="en-US" sz="800" dirty="0">
                <a:solidFill>
                  <a:srgbClr val="5F6B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RoP (pre-release step) and Vanity Cloud (out of scope).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50292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B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Credit Union Onboarding — Effort Review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8229600" y="64373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F6B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Confidential — Internal Use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11475720" y="6437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57607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PER-CU EFFORT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216152" y="64008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effort &amp; onboarding progress tracker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02920" y="126187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B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figures below come from the linked Excel tracker. Update the spreadsheet and the slide refreshes on open (or via right-click → Update Link).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48640" y="1783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EFFORT &amp; ONBOARDING TRACKER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502920" y="2057400"/>
            <a:ext cx="3599273" cy="3611880"/>
          </a:xfrm>
          <a:prstGeom prst="rect">
            <a:avLst/>
          </a:prstGeom>
          <a:ln w="12700">
            <a:solidFill>
              <a:srgbClr val="E8ECE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26280" y="2057400"/>
            <a:ext cx="7159752" cy="2331720"/>
          </a:xfrm>
          <a:prstGeom prst="rect">
            <a:avLst/>
          </a:prstGeom>
          <a:solidFill>
            <a:srgbClr val="F4F6F8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26280" y="2057400"/>
            <a:ext cx="7159752" cy="457200"/>
          </a:xfrm>
          <a:prstGeom prst="rect">
            <a:avLst/>
          </a:prstGeom>
          <a:solidFill>
            <a:srgbClr val="12233F"/>
          </a:solidFill>
          <a:ln/>
        </p:spPr>
      </p:sp>
      <p:sp>
        <p:nvSpPr>
          <p:cNvPr id="12" name="Text 8"/>
          <p:cNvSpPr/>
          <p:nvPr/>
        </p:nvSpPr>
        <p:spPr>
          <a:xfrm>
            <a:off x="4754880" y="20574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SNAPSHOT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754880" y="2697480"/>
            <a:ext cx="3246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864608" y="2752344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33F"/>
                </a:solidFill>
                <a:latin typeface="Georgia" pitchFamily="34" charset="0"/>
              </a:rPr>
              <a:t>96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5989320" y="2752344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B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credit unions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8183880" y="2697480"/>
            <a:ext cx="3246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293608" y="2752344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8A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600" dirty="0"/>
          </a:p>
        </p:txBody>
      </p:sp>
      <p:sp>
        <p:nvSpPr>
          <p:cNvPr id="18" name="Text 14"/>
          <p:cNvSpPr/>
          <p:nvPr/>
        </p:nvSpPr>
        <p:spPr>
          <a:xfrm>
            <a:off x="9418320" y="2752344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B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Onboarded so far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4754880" y="3538728"/>
            <a:ext cx="3246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864608" y="3593592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26A00"/>
                </a:solidFill>
                <a:latin typeface="Georgia" pitchFamily="34" charset="0"/>
              </a:rPr>
              <a:t>96</a:t>
            </a:r>
            <a:endParaRPr lang="en-US" sz="2600" dirty="0"/>
          </a:p>
        </p:txBody>
      </p:sp>
      <p:sp>
        <p:nvSpPr>
          <p:cNvPr id="21" name="Text 17"/>
          <p:cNvSpPr/>
          <p:nvPr/>
        </p:nvSpPr>
        <p:spPr>
          <a:xfrm>
            <a:off x="5989320" y="3593592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B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Remaining to onboard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8183880" y="3538728"/>
            <a:ext cx="3246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293608" y="3593592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2600" dirty="0"/>
          </a:p>
        </p:txBody>
      </p:sp>
      <p:sp>
        <p:nvSpPr>
          <p:cNvPr id="24" name="Text 20"/>
          <p:cNvSpPr/>
          <p:nvPr/>
        </p:nvSpPr>
        <p:spPr>
          <a:xfrm>
            <a:off x="9418320" y="3593592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B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Portfolio complete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4572000" y="45262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Effort remaining: </a:t>
            </a:r>
            <a:r>
              <a:rPr lang="en-US" sz="1250" b="1" dirty="0">
                <a:solidFill>
                  <a:srgbClr val="B26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~2,520 min  (42 hrs)</a:t>
            </a:r>
            <a:r>
              <a:rPr lang="en-US" sz="950" i="1" dirty="0">
                <a:solidFill>
                  <a:srgbClr val="5F6B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— 70 remaining × 36 min/CU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4526280" y="4937760"/>
            <a:ext cx="715975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526280" y="4937760"/>
            <a:ext cx="91440" cy="12801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8" name="Text 24"/>
          <p:cNvSpPr/>
          <p:nvPr/>
        </p:nvSpPr>
        <p:spPr>
          <a:xfrm>
            <a:off x="4800600" y="507492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 THIS SLIDE TO THE EXCEL TRACKER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4800600" y="5340096"/>
            <a:ext cx="6766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2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 </a:t>
            </a:r>
            <a:r>
              <a:rPr lang="en-US" sz="950" dirty="0">
                <a:solidFill>
                  <a:srgbClr val="1E2A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Insert → Object → Create from File → Browse to </a:t>
            </a:r>
            <a:r>
              <a:rPr lang="en-US" sz="950" b="1" dirty="0">
                <a:solidFill>
                  <a:srgbClr val="12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CU_Onboarding_Effort_Tracker.xlsx</a:t>
            </a:r>
            <a:endParaRPr lang="en-US" sz="950" dirty="0"/>
          </a:p>
          <a:p>
            <a:pPr marL="0" indent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2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 </a:t>
            </a:r>
            <a:r>
              <a:rPr lang="en-US" sz="950" dirty="0">
                <a:solidFill>
                  <a:srgbClr val="1E2A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Tick the </a:t>
            </a:r>
            <a:r>
              <a:rPr lang="en-US" sz="950" b="1" dirty="0">
                <a:solidFill>
                  <a:srgbClr val="12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</a:t>
            </a:r>
            <a:r>
              <a:rPr lang="en-US" sz="950" dirty="0">
                <a:solidFill>
                  <a:srgbClr val="1E2A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box → OK, then position it over the table on the left.</a:t>
            </a:r>
            <a:endParaRPr lang="en-US" sz="950" dirty="0"/>
          </a:p>
          <a:p>
            <a:pPr marL="0" indent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2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 </a:t>
            </a:r>
            <a:r>
              <a:rPr lang="en-US" sz="950" dirty="0">
                <a:solidFill>
                  <a:srgbClr val="1E2A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 both files in the same folder. Edit the Excel → the slide refreshes on open.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50292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B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Credit Union Onboarding — Effort Review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8229600" y="64373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F6B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Confidential — Internal Use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11475720" y="6437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850" dirty="0"/>
          </a:p>
        </p:txBody>
      </p:sp>
      <p:graphicFrame>
        <p:nvGraphicFramePr>
          <p:cNvPr id="34" name="Object 33">
            <a:extLst>
              <a:ext uri="{FF2B5EF4-FFF2-40B4-BE49-F238E27FC236}">
                <a16:creationId xmlns:a16="http://schemas.microsoft.com/office/drawing/2014/main" id="{F87945C0-9422-D717-6A6F-B705316E45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7112883"/>
              </p:ext>
            </p:extLst>
          </p:nvPr>
        </p:nvGraphicFramePr>
        <p:xfrm>
          <a:off x="209550" y="2057400"/>
          <a:ext cx="4271010" cy="4357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5727700" imgH="5422900" progId="Excel.Sheet.12">
                  <p:embed/>
                </p:oleObj>
              </mc:Choice>
              <mc:Fallback>
                <p:oleObj name="Worksheet" r:id="rId4" imgW="5727700" imgH="54229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9550" y="2057400"/>
                        <a:ext cx="4271010" cy="4357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57607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WE GO NEXT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216152" y="64008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Observations &amp; recommended next steps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02920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OBSERVATIONS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rgbClr val="F4F6F8"/>
          </a:solidFill>
          <a:ln w="12700">
            <a:solidFill>
              <a:srgbClr val="E8ECEF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1783080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78992" y="16459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is the critical path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078992" y="192024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6B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progress has concentrated on UAT; Production completion is at or near zero and gates going live.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48640" y="2779776"/>
            <a:ext cx="384048" cy="384048"/>
          </a:xfrm>
          <a:prstGeom prst="ellipse">
            <a:avLst/>
          </a:prstGeom>
          <a:solidFill>
            <a:srgbClr val="F4F6F8"/>
          </a:solidFill>
          <a:ln w="12700">
            <a:solidFill>
              <a:srgbClr val="E8ECEF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" y="286207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78992" y="27249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UAT is well advanced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1078992" y="2999232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6B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Salesforce is 100% complete and SSO 80% — the test-environment build is close to done.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548640" y="3858768"/>
            <a:ext cx="384048" cy="384048"/>
          </a:xfrm>
          <a:prstGeom prst="ellipse">
            <a:avLst/>
          </a:prstGeom>
          <a:solidFill>
            <a:srgbClr val="F4F6F8"/>
          </a:solidFill>
          <a:ln w="12700">
            <a:solidFill>
              <a:srgbClr val="E8ECEF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3941064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78992" y="38039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DevOps carries the heaviest load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1078992" y="4078224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6B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 ~30 min per CU, DevOps is the largest recurring contributor to onboarding effort.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548640" y="4937760"/>
            <a:ext cx="384048" cy="384048"/>
          </a:xfrm>
          <a:prstGeom prst="ellipse">
            <a:avLst/>
          </a:prstGeom>
          <a:solidFill>
            <a:srgbClr val="F4F6F8"/>
          </a:solidFill>
          <a:ln w="12700">
            <a:solidFill>
              <a:srgbClr val="E8ECEF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5020056"/>
            <a:ext cx="21945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78992" y="488289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Several values are unmeasured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1078992" y="5157216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6B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progress for most systems was not captured and should be baselined.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6355080" y="1325880"/>
            <a:ext cx="5330952" cy="4617720"/>
          </a:xfrm>
          <a:prstGeom prst="rect">
            <a:avLst/>
          </a:prstGeom>
          <a:solidFill>
            <a:srgbClr val="F4F6F8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355080" y="1325880"/>
            <a:ext cx="5330952" cy="5669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5" name="Text 18"/>
          <p:cNvSpPr/>
          <p:nvPr/>
        </p:nvSpPr>
        <p:spPr>
          <a:xfrm>
            <a:off x="6629400" y="132588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RECOMMENDED NEXT STEPS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6629400" y="2121408"/>
            <a:ext cx="420624" cy="420624"/>
          </a:xfrm>
          <a:prstGeom prst="ellipse">
            <a:avLst/>
          </a:prstGeom>
          <a:solidFill>
            <a:srgbClr val="12233F"/>
          </a:solidFill>
          <a:ln/>
        </p:spPr>
      </p:sp>
      <p:sp>
        <p:nvSpPr>
          <p:cNvPr id="27" name="Text 20"/>
          <p:cNvSpPr/>
          <p:nvPr/>
        </p:nvSpPr>
        <p:spPr>
          <a:xfrm>
            <a:off x="6629400" y="2121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7205472" y="2066544"/>
            <a:ext cx="4206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Baseline Production completion for every system to replace the dashes with measured percentages.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7205472" y="2962656"/>
            <a:ext cx="4206240" cy="0"/>
          </a:xfrm>
          <a:prstGeom prst="line">
            <a:avLst/>
          </a:prstGeom>
          <a:noFill/>
          <a:ln w="9525">
            <a:solidFill>
              <a:srgbClr val="E8ECEF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629400" y="3072384"/>
            <a:ext cx="420624" cy="420624"/>
          </a:xfrm>
          <a:prstGeom prst="ellipse">
            <a:avLst/>
          </a:prstGeom>
          <a:solidFill>
            <a:srgbClr val="12233F"/>
          </a:solidFill>
          <a:ln/>
        </p:spPr>
      </p:sp>
      <p:sp>
        <p:nvSpPr>
          <p:cNvPr id="31" name="Text 24"/>
          <p:cNvSpPr/>
          <p:nvPr/>
        </p:nvSpPr>
        <p:spPr>
          <a:xfrm>
            <a:off x="6629400" y="3072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7205472" y="3017520"/>
            <a:ext cx="4206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Prioritize the Production build, starting with SSO — 80% done in UAT but 0% in Production.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7205472" y="3913632"/>
            <a:ext cx="4206240" cy="0"/>
          </a:xfrm>
          <a:prstGeom prst="line">
            <a:avLst/>
          </a:prstGeom>
          <a:noFill/>
          <a:ln w="9525">
            <a:solidFill>
              <a:srgbClr val="E8ECEF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6629400" y="4023360"/>
            <a:ext cx="420624" cy="420624"/>
          </a:xfrm>
          <a:prstGeom prst="ellipse">
            <a:avLst/>
          </a:prstGeom>
          <a:solidFill>
            <a:srgbClr val="12233F"/>
          </a:solidFill>
          <a:ln/>
        </p:spPr>
      </p:sp>
      <p:sp>
        <p:nvSpPr>
          <p:cNvPr id="35" name="Text 28"/>
          <p:cNvSpPr/>
          <p:nvPr/>
        </p:nvSpPr>
        <p:spPr>
          <a:xfrm>
            <a:off x="6629400" y="4023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7205472" y="3968496"/>
            <a:ext cx="4206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the per-CU effort figures for capacity planning; target DevOps for streamlining.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7205472" y="4864608"/>
            <a:ext cx="4206240" cy="0"/>
          </a:xfrm>
          <a:prstGeom prst="line">
            <a:avLst/>
          </a:prstGeom>
          <a:noFill/>
          <a:ln w="9525">
            <a:solidFill>
              <a:srgbClr val="E8ECEF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6629400" y="4974336"/>
            <a:ext cx="420624" cy="420624"/>
          </a:xfrm>
          <a:prstGeom prst="ellipse">
            <a:avLst/>
          </a:prstGeom>
          <a:solidFill>
            <a:srgbClr val="12233F"/>
          </a:solidFill>
          <a:ln/>
        </p:spPr>
      </p:sp>
      <p:sp>
        <p:nvSpPr>
          <p:cNvPr id="39" name="Text 32"/>
          <p:cNvSpPr/>
          <p:nvPr/>
        </p:nvSpPr>
        <p:spPr>
          <a:xfrm>
            <a:off x="6629400" y="4974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40" name="Text 33"/>
          <p:cNvSpPr/>
          <p:nvPr/>
        </p:nvSpPr>
        <p:spPr>
          <a:xfrm>
            <a:off x="7205472" y="4919472"/>
            <a:ext cx="4206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Confirm ownership and scope decisions — including the exclusion of Vanity Cloud — with owners and dates.</a:t>
            </a:r>
            <a:endParaRPr lang="en-US" sz="1100" dirty="0"/>
          </a:p>
        </p:txBody>
      </p:sp>
      <p:sp>
        <p:nvSpPr>
          <p:cNvPr id="41" name="Text 34"/>
          <p:cNvSpPr/>
          <p:nvPr/>
        </p:nvSpPr>
        <p:spPr>
          <a:xfrm>
            <a:off x="50292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B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Credit Union Onboarding — Effort Review</a:t>
            </a:r>
            <a:endParaRPr lang="en-US" sz="850" dirty="0"/>
          </a:p>
        </p:txBody>
      </p:sp>
      <p:sp>
        <p:nvSpPr>
          <p:cNvPr id="42" name="Text 35"/>
          <p:cNvSpPr/>
          <p:nvPr/>
        </p:nvSpPr>
        <p:spPr>
          <a:xfrm>
            <a:off x="8229600" y="64373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F6B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Confidential — Internal Use</a:t>
            </a:r>
            <a:endParaRPr lang="en-US" sz="850" dirty="0"/>
          </a:p>
        </p:txBody>
      </p:sp>
      <p:sp>
        <p:nvSpPr>
          <p:cNvPr id="43" name="Text 36"/>
          <p:cNvSpPr/>
          <p:nvPr/>
        </p:nvSpPr>
        <p:spPr>
          <a:xfrm>
            <a:off x="11475720" y="6437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686</Words>
  <Application>Microsoft Macintosh PowerPoint</Application>
  <PresentationFormat>Widescreen</PresentationFormat>
  <Paragraphs>100</Paragraphs>
  <Slides>5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Georgia</vt:lpstr>
      <vt:lpstr>Trebuchet MS</vt:lpstr>
      <vt:lpstr>Office Theme</vt:lpstr>
      <vt:lpstr>Microsoft Excel 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Union Onboarding Effort</dc:title>
  <dc:subject>PptxGenJS Presentation</dc:subject>
  <dc:creator>Executive Briefing</dc:creator>
  <cp:lastModifiedBy>Oluwafemi Oridota</cp:lastModifiedBy>
  <cp:revision>2</cp:revision>
  <dcterms:created xsi:type="dcterms:W3CDTF">2026-05-27T04:25:32Z</dcterms:created>
  <dcterms:modified xsi:type="dcterms:W3CDTF">2026-05-27T04:36:32Z</dcterms:modified>
</cp:coreProperties>
</file>